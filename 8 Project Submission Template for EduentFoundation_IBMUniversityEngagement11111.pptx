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62" r:id="rId8"/>
    <p:sldId id="264" r:id="rId9"/>
    <p:sldId id="278"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509391-BCB5-48A6-B963-3CE44EF0096F}" v="2" dt="2026-06-08T09:52:12.626"/>
    <p1510:client id="{971AD484-F5C2-4F18-9397-695F652BEC24}" v="233" dt="2026-06-08T10:50:23.331"/>
    <p1510:client id="{C7856EA9-86F9-4621-97D8-EE8CC153D720}" v="265" dt="2026-06-08T03:36:19.738"/>
    <p1510:client id="{F0D1CB8A-A592-4F4A-BEE5-CE2B09322A8D}" v="169" dt="2026-06-07T17:59:54.5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50" d="100"/>
          <a:sy n="50" d="100"/>
        </p:scale>
        <p:origin x="-115" y="7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Basheer78654/streamlit-app.gi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app-app-86cuhmm55zzarihythmpxo.streamlit.app/"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8388431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a:t>Mohammad Basheer Shabbir Shareef</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Basheershareef2005@gmail.com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7981841214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lIns="91440" tIns="45720" rIns="91440" bIns="45720" rtlCol="0" anchor="t">
            <a:spAutoFit/>
          </a:bodyPr>
          <a:lstStyle/>
          <a:p>
            <a:r>
              <a:rPr lang="en-US" sz="2400" b="1"/>
              <a:t>Domain of  Project – Manufacturing / Industrial Engineering</a:t>
            </a:r>
            <a:endParaRPr lang="en-US"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lIns="91440" tIns="45720" rIns="91440" bIns="45720" rtlCol="0" anchor="t">
            <a:spAutoFit/>
          </a:bodyPr>
          <a:lstStyle/>
          <a:p>
            <a:pPr algn="ctr"/>
            <a:r>
              <a:rPr lang="en-US" sz="2400" b="1"/>
              <a:t>Project Title - Predictive Maintenance of Industrial Machinery </a:t>
            </a:r>
            <a:r>
              <a:rPr lang="en-US" sz="2400" b="1" dirty="0"/>
              <a:t>(PS39)</a:t>
            </a:r>
            <a:endParaRPr lang="en-US" sz="2400" b="1">
              <a:highlight>
                <a:srgbClr val="FFFF00"/>
              </a:highlight>
            </a:endParaRPr>
          </a:p>
        </p:txBody>
      </p:sp>
      <p:pic>
        <p:nvPicPr>
          <p:cNvPr id="2" name="Picture 1" descr="A person with black hair and beards&#10;&#10;AI-generated content may be incorrect.">
            <a:extLst>
              <a:ext uri="{FF2B5EF4-FFF2-40B4-BE49-F238E27FC236}">
                <a16:creationId xmlns:a16="http://schemas.microsoft.com/office/drawing/2014/main" id="{3FF1DAC9-AF74-CE61-DFAF-FC1F5BEF5E19}"/>
              </a:ext>
            </a:extLst>
          </p:cNvPr>
          <p:cNvPicPr>
            <a:picLocks noChangeAspect="1"/>
          </p:cNvPicPr>
          <p:nvPr/>
        </p:nvPicPr>
        <p:blipFill>
          <a:blip r:embed="rId3"/>
          <a:stretch>
            <a:fillRect/>
          </a:stretch>
        </p:blipFill>
        <p:spPr>
          <a:xfrm>
            <a:off x="4054481" y="3699904"/>
            <a:ext cx="883050" cy="107768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162553"/>
            <a:ext cx="10607040" cy="4524315"/>
          </a:xfrm>
          <a:prstGeom prst="rect">
            <a:avLst/>
          </a:prstGeom>
          <a:noFill/>
        </p:spPr>
        <p:txBody>
          <a:bodyPr wrap="square" lIns="91440" tIns="45720" rIns="91440" bIns="45720" rtlCol="0" anchor="t">
            <a:spAutoFit/>
          </a:bodyPr>
          <a:lstStyle/>
          <a:p>
            <a:r>
              <a:rPr lang="en-US" sz="1600" b="1"/>
              <a:t>Problem Statement : Predictive Maintenance of Industrial Machinery</a:t>
            </a:r>
            <a:endParaRPr lang="en-US" sz="1600" dirty="0"/>
          </a:p>
          <a:p>
            <a:r>
              <a:rPr lang="en-US" sz="1600" b="1" dirty="0"/>
              <a:t>The Challenge</a:t>
            </a:r>
            <a:r>
              <a:rPr lang="en-US" sz="1600" dirty="0"/>
              <a:t> Industrial fleets face catastrophic failures due to wear and thermal stress, but maintenance teams often struggle to anticipate these events before they occur. Information about machine health is buried within extreme volumes of sensor telemetry data. Without </a:t>
            </a:r>
            <a:r>
              <a:rPr lang="en-US" sz="1600" b="1" dirty="0"/>
              <a:t>proactive, real-time intelligence</a:t>
            </a:r>
            <a:r>
              <a:rPr lang="en-US" sz="1600" dirty="0"/>
              <a:t>, many organizations rely on reactive maintenance, leading to costly downtime and inefficient operations.</a:t>
            </a:r>
          </a:p>
          <a:p>
            <a:r>
              <a:rPr lang="en-US" sz="1600" b="1"/>
              <a:t>The Objective</a:t>
            </a:r>
            <a:r>
              <a:rPr lang="en-US" sz="1600"/>
              <a:t> Build an </a:t>
            </a:r>
            <a:r>
              <a:rPr lang="en-US" sz="1600" b="1"/>
              <a:t>intelligent web application</a:t>
            </a:r>
            <a:r>
              <a:rPr lang="en-US" sz="1600"/>
              <a:t> using machine learning that delivers </a:t>
            </a:r>
            <a:r>
              <a:rPr lang="en-US" sz="1600" b="1"/>
              <a:t>real-time, proactive industrial asset monitoring</a:t>
            </a:r>
            <a:r>
              <a:rPr lang="en-US" sz="1600"/>
              <a:t>. The solution should:</a:t>
            </a:r>
            <a:endParaRPr lang="en-US" sz="1600" dirty="0"/>
          </a:p>
          <a:p>
            <a:pPr marL="285750" indent="-285750">
              <a:buFont typeface="Arial"/>
              <a:buChar char="•"/>
            </a:pPr>
            <a:r>
              <a:rPr lang="en-US" sz="1600" b="1"/>
              <a:t>Predict Failure Types</a:t>
            </a:r>
            <a:r>
              <a:rPr lang="en-US" sz="1600"/>
              <a:t> – Anticipate specific anomalies including Tool Wear, Heat Dissipation, Power Failure, and Overstrain.</a:t>
            </a:r>
            <a:endParaRPr lang="en-US" sz="1600" dirty="0"/>
          </a:p>
          <a:p>
            <a:pPr marL="285750" indent="-285750">
              <a:buFont typeface="Arial"/>
              <a:buChar char="•"/>
            </a:pPr>
            <a:r>
              <a:rPr lang="en-US" sz="1600" b="1"/>
              <a:t>Live Sensor Input</a:t>
            </a:r>
            <a:r>
              <a:rPr lang="en-US" sz="1600"/>
              <a:t> – Accept and process real-time telemetry such as Rotational Speed, Torque, Air Temperature, and Process Temperature.</a:t>
            </a:r>
            <a:endParaRPr lang="en-US" sz="1600" dirty="0"/>
          </a:p>
          <a:p>
            <a:pPr marL="285750" indent="-285750">
              <a:buFont typeface="Arial"/>
              <a:buChar char="•"/>
            </a:pPr>
            <a:r>
              <a:rPr lang="en-US" sz="1600" b="1" dirty="0"/>
              <a:t>Diagnostic Engine</a:t>
            </a:r>
            <a:r>
              <a:rPr lang="en-US" sz="1600" dirty="0"/>
              <a:t> – Combine an IBM </a:t>
            </a:r>
            <a:r>
              <a:rPr lang="en-US" sz="1600" dirty="0" err="1"/>
              <a:t>watsonx</a:t>
            </a:r>
            <a:r>
              <a:rPr lang="en-US" sz="1600" dirty="0"/>
              <a:t> </a:t>
            </a:r>
            <a:r>
              <a:rPr lang="en-US" sz="1600" dirty="0" err="1"/>
              <a:t>AutoAI</a:t>
            </a:r>
            <a:r>
              <a:rPr lang="en-US" sz="1600" dirty="0"/>
              <a:t> Machine Learning model (Snap Random Forest) with rule-based mechanical overrides.</a:t>
            </a:r>
          </a:p>
          <a:p>
            <a:pPr marL="285750" indent="-285750">
              <a:buFont typeface="Arial"/>
              <a:buChar char="•"/>
            </a:pPr>
            <a:r>
              <a:rPr lang="en-US" sz="1600" b="1"/>
              <a:t>Mitigation Protocols</a:t>
            </a:r>
            <a:r>
              <a:rPr lang="en-US" sz="1600"/>
              <a:t> – Provide actionable, step-by-step mitigation strategies based on the specific anomaly detected.</a:t>
            </a:r>
            <a:endParaRPr lang="en-US" sz="1600" dirty="0"/>
          </a:p>
          <a:p>
            <a:pPr marL="285750" indent="-285750">
              <a:buFont typeface="Arial"/>
              <a:buChar char="•"/>
            </a:pPr>
            <a:r>
              <a:rPr lang="en-US" sz="1600" b="1" dirty="0"/>
              <a:t>Visualization Dashboard</a:t>
            </a:r>
            <a:r>
              <a:rPr lang="en-US" sz="1600" dirty="0"/>
              <a:t> – Display real-time telemetry, model confidence levels, and safety warnings in an intuitive </a:t>
            </a:r>
            <a:r>
              <a:rPr lang="en-US" sz="1600" dirty="0" err="1"/>
              <a:t>Streamlit</a:t>
            </a:r>
            <a:r>
              <a:rPr lang="en-US" sz="1600" dirty="0"/>
              <a:t> interface.</a:t>
            </a:r>
          </a:p>
          <a:p>
            <a:endParaRPr lang="en-US"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3877985"/>
          </a:xfrm>
          <a:prstGeom prst="rect">
            <a:avLst/>
          </a:prstGeom>
          <a:noFill/>
        </p:spPr>
        <p:txBody>
          <a:bodyPr wrap="square" lIns="91440" tIns="45720" rIns="91440" bIns="45720" rtlCol="0" anchor="t">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IBM watso</a:t>
            </a:r>
            <a:r>
              <a:rPr lang="en-IN" b="1" dirty="0"/>
              <a:t>nx.ai (</a:t>
            </a:r>
            <a:r>
              <a:rPr lang="en-IN" b="1" dirty="0" err="1"/>
              <a:t>AutoAI</a:t>
            </a:r>
            <a:r>
              <a:rPr lang="en-IN" b="1" dirty="0"/>
              <a:t>)</a:t>
            </a:r>
            <a:r>
              <a:rPr lang="en-IN" dirty="0"/>
              <a:t> + </a:t>
            </a:r>
            <a:r>
              <a:rPr lang="en-IN" b="1" dirty="0" err="1"/>
              <a:t>Streamlit</a:t>
            </a:r>
            <a:r>
              <a:rPr lang="en-IN" b="1" dirty="0"/>
              <a:t> + Python</a:t>
            </a:r>
            <a:r>
              <a:rPr lang="en-IN" dirty="0"/>
              <a:t> </a:t>
            </a:r>
            <a:endParaRPr lang="en-US" dirty="0"/>
          </a:p>
          <a:p>
            <a:pPr>
              <a:spcBef>
                <a:spcPts val="600"/>
              </a:spcBef>
              <a:spcAft>
                <a:spcPts val="600"/>
              </a:spcAft>
              <a:buFont typeface="Arial" panose="020B0604020202020204" pitchFamily="34" charset="0"/>
              <a:buChar char="•"/>
            </a:pPr>
            <a:r>
              <a:rPr lang="en-US" sz="1600" b="1" dirty="0">
                <a:solidFill>
                  <a:schemeClr val="tx1"/>
                </a:solidFill>
                <a:latin typeface="Google Sans Flex"/>
              </a:rPr>
              <a:t>IBM </a:t>
            </a:r>
            <a:r>
              <a:rPr lang="en-US" sz="1600" b="1" dirty="0" err="1">
                <a:solidFill>
                  <a:schemeClr val="tx1"/>
                </a:solidFill>
                <a:latin typeface="Google Sans Flex"/>
              </a:rPr>
              <a:t>watsonx</a:t>
            </a:r>
            <a:r>
              <a:rPr lang="en-US" sz="1600" b="1" dirty="0">
                <a:solidFill>
                  <a:schemeClr val="tx1"/>
                </a:solidFill>
                <a:latin typeface="Google Sans Flex"/>
              </a:rPr>
              <a:t> </a:t>
            </a:r>
            <a:r>
              <a:rPr lang="en-US" sz="1600" b="1" dirty="0" err="1">
                <a:solidFill>
                  <a:schemeClr val="tx1"/>
                </a:solidFill>
                <a:latin typeface="Google Sans Flex"/>
              </a:rPr>
              <a:t>AutoAI</a:t>
            </a:r>
            <a:r>
              <a:rPr lang="en-US" sz="1600" b="1" dirty="0">
                <a:solidFill>
                  <a:schemeClr val="tx1"/>
                </a:solidFill>
                <a:latin typeface="Google Sans Flex"/>
              </a:rPr>
              <a:t>:</a:t>
            </a:r>
            <a:r>
              <a:rPr lang="en-US" sz="1600" dirty="0">
                <a:solidFill>
                  <a:schemeClr val="tx1"/>
                </a:solidFill>
                <a:latin typeface="Google Sans Flex"/>
              </a:rPr>
              <a:t> For automated data preprocessing, model training, hyperparameter optimization, and API deployment.</a:t>
            </a:r>
          </a:p>
          <a:p>
            <a:pPr>
              <a:spcBef>
                <a:spcPts val="600"/>
              </a:spcBef>
              <a:spcAft>
                <a:spcPts val="600"/>
              </a:spcAft>
              <a:buFont typeface="Arial" panose="020B0604020202020204" pitchFamily="34" charset="0"/>
              <a:buChar char="•"/>
            </a:pPr>
            <a:r>
              <a:rPr lang="en-US" sz="1600" b="1" dirty="0">
                <a:solidFill>
                  <a:schemeClr val="tx1"/>
                </a:solidFill>
                <a:latin typeface="Google Sans Flex"/>
              </a:rPr>
              <a:t>Snap ML (Random Forest):</a:t>
            </a:r>
            <a:r>
              <a:rPr lang="en-US" sz="1600" dirty="0">
                <a:solidFill>
                  <a:schemeClr val="tx1"/>
                </a:solidFill>
                <a:latin typeface="Google Sans Flex"/>
              </a:rPr>
              <a:t> The high-performance machine learning algorithm selected for fast, multi-class inference.</a:t>
            </a:r>
          </a:p>
          <a:p>
            <a:pPr>
              <a:spcBef>
                <a:spcPts val="600"/>
              </a:spcBef>
              <a:spcAft>
                <a:spcPts val="600"/>
              </a:spcAft>
              <a:buFont typeface="Arial" panose="020B0604020202020204" pitchFamily="34" charset="0"/>
              <a:buChar char="•"/>
            </a:pPr>
            <a:r>
              <a:rPr lang="en-US" sz="1600" b="1" dirty="0" err="1">
                <a:solidFill>
                  <a:schemeClr val="tx1"/>
                </a:solidFill>
                <a:latin typeface="Google Sans Flex"/>
              </a:rPr>
              <a:t>Streamlit</a:t>
            </a:r>
            <a:r>
              <a:rPr lang="en-US" sz="1600" b="1" dirty="0">
                <a:solidFill>
                  <a:schemeClr val="tx1"/>
                </a:solidFill>
                <a:latin typeface="Google Sans Flex"/>
              </a:rPr>
              <a:t>:</a:t>
            </a:r>
            <a:r>
              <a:rPr lang="en-US" sz="1600" dirty="0">
                <a:solidFill>
                  <a:schemeClr val="tx1"/>
                </a:solidFill>
                <a:latin typeface="Google Sans Flex"/>
              </a:rPr>
              <a:t> For designing the interactive web dashboard and user interface.</a:t>
            </a:r>
          </a:p>
          <a:p>
            <a:pPr>
              <a:spcBef>
                <a:spcPts val="600"/>
              </a:spcBef>
              <a:spcAft>
                <a:spcPts val="600"/>
              </a:spcAft>
              <a:buFont typeface="Arial" panose="020B0604020202020204" pitchFamily="34" charset="0"/>
              <a:buChar char="•"/>
            </a:pPr>
            <a:r>
              <a:rPr lang="en-US" sz="1600" b="1" dirty="0">
                <a:solidFill>
                  <a:schemeClr val="tx1"/>
                </a:solidFill>
                <a:latin typeface="Google Sans Flex"/>
              </a:rPr>
              <a:t>Python &amp; Requests:</a:t>
            </a:r>
            <a:r>
              <a:rPr lang="en-US" sz="1600" dirty="0">
                <a:solidFill>
                  <a:schemeClr val="tx1"/>
                </a:solidFill>
                <a:latin typeface="Google Sans Flex"/>
              </a:rPr>
              <a:t> For securely transmitting JSON payloads from the frontend application to the cloud backend.</a:t>
            </a:r>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031873"/>
          </a:xfrm>
          <a:prstGeom prst="rect">
            <a:avLst/>
          </a:prstGeom>
          <a:noFill/>
        </p:spPr>
        <p:txBody>
          <a:bodyPr wrap="square" lIns="91440" tIns="45720" rIns="91440" bIns="45720" rtlCol="0" anchor="t">
            <a:spAutoFit/>
          </a:bodyPr>
          <a:lstStyle/>
          <a:p>
            <a:pPr marL="285750" indent="-285750">
              <a:buChar char="•"/>
            </a:pPr>
            <a:r>
              <a:rPr lang="en-US" sz="1600" b="1"/>
              <a:t>Machine Learning (AI) Insights:</a:t>
            </a:r>
            <a:endParaRPr lang="en-US" sz="1600" dirty="0"/>
          </a:p>
          <a:p>
            <a:pPr marL="285750" indent="-285750">
              <a:buChar char="•"/>
            </a:pPr>
            <a:r>
              <a:rPr lang="en-US" sz="1600" b="1"/>
              <a:t>Data Analysis:</a:t>
            </a:r>
            <a:r>
              <a:rPr lang="en-US" sz="1600"/>
              <a:t> Analyzes real-time sensor data—like temperature, rotational speed, torque, and tool wear—collected from your machines.</a:t>
            </a:r>
            <a:endParaRPr lang="en-US" sz="1600" dirty="0"/>
          </a:p>
          <a:p>
            <a:pPr marL="285750" indent="-285750">
              <a:buChar char="•"/>
            </a:pPr>
            <a:r>
              <a:rPr lang="en-US" sz="1600" b="1" dirty="0"/>
              <a:t>Failure Classification:</a:t>
            </a:r>
            <a:r>
              <a:rPr lang="en-US" sz="1600" dirty="0"/>
              <a:t> Uses a trained machine learning model conceptually optimized for tasks like F1 Macro-averaging (to handle rare failure cases effectively). This model conceptualizes predictions on </a:t>
            </a:r>
            <a:r>
              <a:rPr lang="en-US" sz="1600" i="1" dirty="0"/>
              <a:t>when</a:t>
            </a:r>
            <a:r>
              <a:rPr lang="en-US" sz="1600" dirty="0"/>
              <a:t> a failure might occur and </a:t>
            </a:r>
            <a:r>
              <a:rPr lang="en-US" sz="1600" i="1" dirty="0"/>
              <a:t>what type</a:t>
            </a:r>
            <a:r>
              <a:rPr lang="en-US" sz="1600" dirty="0"/>
              <a:t> of failure it is likely to be (e.g., Tool Wear, Heat Dissipation, Power Failure, or Overstrain).</a:t>
            </a:r>
          </a:p>
          <a:p>
            <a:pPr marL="285750" indent="-285750">
              <a:buChar char="•"/>
            </a:pPr>
            <a:r>
              <a:rPr lang="en-US" sz="1600" b="1" dirty="0"/>
              <a:t>Secure API:</a:t>
            </a:r>
            <a:r>
              <a:rPr lang="en-US" sz="1600" dirty="0"/>
              <a:t> Accesses these predictions through a deployed endpoint, possibly conceptualizing standard cloud or edge services.</a:t>
            </a:r>
          </a:p>
          <a:p>
            <a:pPr marL="285750" indent="-285750">
              <a:buChar char="•"/>
            </a:pPr>
            <a:r>
              <a:rPr lang="en-US" sz="1600" b="1"/>
              <a:t>Rule-Based Safety Logic:</a:t>
            </a:r>
            <a:endParaRPr lang="en-US" sz="1600" dirty="0"/>
          </a:p>
          <a:p>
            <a:pPr marL="285750" indent="-285750">
              <a:buChar char="•"/>
            </a:pPr>
            <a:r>
              <a:rPr lang="en-US" sz="1600" b="1" dirty="0"/>
              <a:t>Override Protocols:</a:t>
            </a:r>
            <a:r>
              <a:rPr lang="en-US" sz="1600" dirty="0"/>
              <a:t> Operates a concurrent rules engine containing hardcoded mechanical safety thresholds (e.g., maximum permissible temperature, extreme speed-to-torque ratios).</a:t>
            </a:r>
          </a:p>
          <a:p>
            <a:pPr marL="285750" indent="-285750">
              <a:buChar char="•"/>
            </a:pPr>
            <a:r>
              <a:rPr lang="en-US" sz="1600" b="1" dirty="0"/>
              <a:t>Immediate Action:</a:t>
            </a:r>
            <a:r>
              <a:rPr lang="en-US" sz="1600" dirty="0"/>
              <a:t> If any of these critical limits are conceptually breached, the rules-based system can immediately trigger alarms or shutdown protocols, prioritizing safety even if the ML model is still processing or has lower confidence.</a:t>
            </a:r>
          </a:p>
          <a:p>
            <a:endParaRPr lang="en-US" sz="1600"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err="1">
                <a:sym typeface="Times New Roman"/>
              </a:rPr>
              <a:t>Streamlit</a:t>
            </a:r>
            <a:r>
              <a:rPr lang="en-US" sz="2400" b="1" dirty="0">
                <a:sym typeface="Times New Roman"/>
              </a:rPr>
              <a:t> 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524315"/>
          </a:xfrm>
          <a:prstGeom prst="rect">
            <a:avLst/>
          </a:prstGeom>
          <a:noFill/>
        </p:spPr>
        <p:txBody>
          <a:bodyPr wrap="square" lIns="91440" tIns="45720" rIns="91440" bIns="45720" rtlCol="0" anchor="t">
            <a:spAutoFit/>
          </a:bodyPr>
          <a:lstStyle/>
          <a:p>
            <a:r>
              <a:rPr lang="en-US" sz="1600" b="1" dirty="0"/>
              <a:t>1) </a:t>
            </a:r>
            <a:r>
              <a:rPr lang="en-US" sz="1600" b="1" dirty="0" err="1"/>
              <a:t>Streamlit</a:t>
            </a:r>
            <a:r>
              <a:rPr lang="en-US" sz="1600" b="1" dirty="0"/>
              <a:t> Input Panel</a:t>
            </a:r>
            <a:r>
              <a:rPr lang="en-US" sz="1600" dirty="0"/>
              <a:t> - The interactive sidebar where operators manually enter or adjust real-time machine telemetry, such as rotational speed, torque, and temperatures.</a:t>
            </a:r>
          </a:p>
          <a:p>
            <a:endParaRPr lang="en-US" sz="1600" dirty="0"/>
          </a:p>
          <a:p>
            <a:r>
              <a:rPr lang="en-US" sz="1600" b="1" dirty="0"/>
              <a:t>2) IBM </a:t>
            </a:r>
            <a:r>
              <a:rPr lang="en-US" sz="1600" b="1" dirty="0" err="1"/>
              <a:t>watsonx</a:t>
            </a:r>
            <a:r>
              <a:rPr lang="en-US" sz="1600" b="1" dirty="0"/>
              <a:t> </a:t>
            </a:r>
            <a:r>
              <a:rPr lang="en-US" sz="1600" b="1" dirty="0" err="1"/>
              <a:t>AutoAI</a:t>
            </a:r>
            <a:r>
              <a:rPr lang="en-US" sz="1600" b="1" dirty="0"/>
              <a:t> Engine</a:t>
            </a:r>
            <a:r>
              <a:rPr lang="en-US" sz="1600" dirty="0"/>
              <a:t> - The cloud backend that receives the sensor data and processes it using optimized Machine Learning pipelines to generate failure predictions.</a:t>
            </a:r>
          </a:p>
          <a:p>
            <a:endParaRPr lang="en-US" sz="1600" dirty="0"/>
          </a:p>
          <a:p>
            <a:r>
              <a:rPr lang="en-US" sz="1600" b="1" dirty="0"/>
              <a:t>3) Snap Random Forest Classifier</a:t>
            </a:r>
            <a:r>
              <a:rPr lang="en-US" sz="1600" dirty="0"/>
              <a:t> - The high-performance machine learning algorithm selected by </a:t>
            </a:r>
            <a:r>
              <a:rPr lang="en-US" sz="1600" dirty="0" err="1"/>
              <a:t>AutoAI</a:t>
            </a:r>
            <a:r>
              <a:rPr lang="en-US" sz="1600" dirty="0"/>
              <a:t>. Fast and efficient for real-time multi-class failure classification.</a:t>
            </a:r>
          </a:p>
          <a:p>
            <a:endParaRPr lang="en-US" sz="1600" dirty="0"/>
          </a:p>
          <a:p>
            <a:r>
              <a:rPr lang="en-US" sz="1600" b="1" dirty="0"/>
              <a:t>4) </a:t>
            </a:r>
            <a:r>
              <a:rPr lang="en-US" sz="1600" b="1" dirty="0" err="1"/>
              <a:t>Streamlit</a:t>
            </a:r>
            <a:r>
              <a:rPr lang="en-US" sz="1600" b="1" dirty="0"/>
              <a:t> Diagnostic Output</a:t>
            </a:r>
            <a:r>
              <a:rPr lang="en-US" sz="1600" dirty="0"/>
              <a:t> - The main visual dashboard that displays the AI-generated results, including failure probability charts, risk levels, and step-by-step mitigation protocols.</a:t>
            </a:r>
          </a:p>
          <a:p>
            <a:endParaRPr lang="en-US" sz="1600" dirty="0"/>
          </a:p>
          <a:p>
            <a:r>
              <a:rPr lang="en-US" sz="1600" b="1"/>
              <a:t>5) Rule-Based Safety Engine</a:t>
            </a:r>
            <a:r>
              <a:rPr lang="en-US" sz="1600"/>
              <a:t> - Hardcoded mechanical logic within the app that overrides the AI to trigger immediate warnings if critical physical thresholds (like extreme heat) are breached.</a:t>
            </a:r>
            <a:endParaRPr lang="en-US" sz="1600" dirty="0"/>
          </a:p>
          <a:p>
            <a:endParaRPr lang="en-US" sz="1600" dirty="0"/>
          </a:p>
          <a:p>
            <a:r>
              <a:rPr lang="en-US" sz="1600" b="1" dirty="0"/>
              <a:t>6) </a:t>
            </a:r>
            <a:r>
              <a:rPr lang="en-US" sz="1600" b="1" dirty="0" err="1"/>
              <a:t>Streamlit</a:t>
            </a:r>
            <a:r>
              <a:rPr lang="en-US" sz="1600" b="1" dirty="0"/>
              <a:t> Secrets Vault</a:t>
            </a:r>
            <a:r>
              <a:rPr lang="en-US" sz="1600" dirty="0"/>
              <a:t> - The secure configuration system (</a:t>
            </a:r>
            <a:r>
              <a:rPr lang="en-US" sz="1600" dirty="0" err="1">
                <a:latin typeface="Consolas"/>
              </a:rPr>
              <a:t>secrets.toml</a:t>
            </a:r>
            <a:r>
              <a:rPr lang="en-US" sz="1600" dirty="0"/>
              <a:t>) that safely stores and injects your IBM Cloud API key to connect the public frontend to the private backend.</a:t>
            </a:r>
          </a:p>
          <a:p>
            <a:endParaRPr lang="en-US"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descr="A diagram of a system&#10;&#10;AI-generated content may be incorrect.">
            <a:extLst>
              <a:ext uri="{FF2B5EF4-FFF2-40B4-BE49-F238E27FC236}">
                <a16:creationId xmlns:a16="http://schemas.microsoft.com/office/drawing/2014/main" id="{F71127A1-301B-FEB9-6B2A-AF54CA57F18D}"/>
              </a:ext>
            </a:extLst>
          </p:cNvPr>
          <p:cNvPicPr>
            <a:picLocks noChangeAspect="1"/>
          </p:cNvPicPr>
          <p:nvPr/>
        </p:nvPicPr>
        <p:blipFill>
          <a:blip r:embed="rId3"/>
          <a:stretch>
            <a:fillRect/>
          </a:stretch>
        </p:blipFill>
        <p:spPr>
          <a:xfrm>
            <a:off x="540152" y="875554"/>
            <a:ext cx="10967013" cy="59846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73565" y="1167493"/>
            <a:ext cx="7454867" cy="3539430"/>
          </a:xfrm>
          <a:prstGeom prst="rect">
            <a:avLst/>
          </a:prstGeom>
          <a:noFill/>
        </p:spPr>
        <p:txBody>
          <a:bodyPr wrap="square" lIns="91440" tIns="45720" rIns="91440" bIns="45720" rtlCol="0" anchor="t">
            <a:spAutoFit/>
          </a:bodyPr>
          <a:lstStyle/>
          <a:p>
            <a:r>
              <a:rPr lang="en-US" b="1"/>
              <a:t>Role of Machine Learning in Predictive Maintenance</a:t>
            </a:r>
            <a:endParaRPr lang="en-US"/>
          </a:p>
          <a:p>
            <a:r>
              <a:rPr lang="en-US" dirty="0"/>
              <a:t>Machine Learning enables the system to function as an intelligent, predictive engine rather than relying solely on manual, reactive alarms. Using IBM watsonx.ai, the model identifies complex, hidden patterns in sensor data that precede physical failures.</a:t>
            </a:r>
          </a:p>
          <a:p>
            <a:pPr marL="285750" indent="-285750">
              <a:buChar char="•"/>
            </a:pPr>
            <a:r>
              <a:rPr lang="en-US" b="1"/>
              <a:t>Multi-Dimensional Analysis:</a:t>
            </a:r>
            <a:r>
              <a:rPr lang="en-US"/>
              <a:t> The ML model (Snap Random Forest Classifier) understands how multiple variables—such as how torque interacts with rotational speed and temperature simultaneously—affect the machine's health in real-time.</a:t>
            </a:r>
          </a:p>
          <a:p>
            <a:pPr marL="285750" indent="-285750">
              <a:buChar char="•"/>
            </a:pPr>
            <a:r>
              <a:rPr lang="en-US" b="1" dirty="0"/>
              <a:t>Catching Rare Anomalies:</a:t>
            </a:r>
            <a:r>
              <a:rPr lang="en-US" dirty="0"/>
              <a:t> By optimizing for the F1 Macro score, the AI effectively handles the extreme class imbalance in industrial data (96.5% healthy vs. 3.5% failures), ensuring it catches rare events like Tool Wear or Heat Dissipation failures instead of just guessing "Healthy."</a:t>
            </a:r>
          </a:p>
          <a:p>
            <a:pPr marL="285750" indent="-285750">
              <a:buChar char="•"/>
            </a:pPr>
            <a:r>
              <a:rPr lang="en-US" b="1"/>
              <a:t>Context-Aware Diagnostics:</a:t>
            </a:r>
            <a:r>
              <a:rPr lang="en-US"/>
              <a:t> Instead of just triggering a generic "Error," the ML model categorizes the exact type of failure and outputs a confidence-scored diagnostic verdict.</a:t>
            </a:r>
          </a:p>
          <a:p>
            <a:r>
              <a:rPr lang="en-US" dirty="0"/>
              <a:t>Overall, Machine Learning makes the system proactive and safe, acting like a smart digital diagnostic technician that helps operators maintain optimal uptime.</a:t>
            </a:r>
          </a:p>
          <a:p>
            <a:endParaRPr 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algn="ctr">
              <a:buFont typeface="Arial" panose="020B0604020202020204" pitchFamily="34" charset="0"/>
              <a:buChar char="•"/>
            </a:pPr>
            <a:r>
              <a:rPr lang="en-US" sz="1800" b="1" dirty="0"/>
              <a:t> IBM watsonx.ai (</a:t>
            </a:r>
            <a:r>
              <a:rPr lang="en-US" sz="1800" b="1" dirty="0" err="1"/>
              <a:t>AutoAI</a:t>
            </a:r>
            <a:r>
              <a:rPr lang="en-US" sz="1800" b="1" dirty="0"/>
              <a:t>)</a:t>
            </a:r>
            <a:r>
              <a:rPr lang="en-US" sz="1800" dirty="0"/>
              <a:t> – This is the core technology shown in your picture. It is the IBM Cloud service you used to automatically train, evaluate, and deploy your predictive maintenance model.</a:t>
            </a:r>
            <a:endParaRPr lang="en-US" sz="1800" b="1" dirty="0"/>
          </a:p>
          <a:p>
            <a:pPr>
              <a:buFont typeface="Arial" panose="020B0604020202020204" pitchFamily="34" charset="0"/>
              <a:buChar char="•"/>
            </a:pPr>
            <a:endParaRPr lang="en-US" sz="1800" b="1" dirty="0"/>
          </a:p>
          <a:p>
            <a:pPr>
              <a:buFont typeface="Arial" panose="020B0604020202020204" pitchFamily="34" charset="0"/>
              <a:buChar char="•"/>
            </a:pPr>
            <a:r>
              <a:rPr lang="en-US" sz="1800" b="1" dirty="0"/>
              <a:t>  </a:t>
            </a:r>
            <a:r>
              <a:rPr lang="en-US" sz="1800" b="1" dirty="0" err="1"/>
              <a:t>Streamlit</a:t>
            </a:r>
            <a:r>
              <a:rPr lang="en-US" sz="1800" dirty="0"/>
              <a:t> – The framework you used to build the interactive web dashboard for your app.</a:t>
            </a:r>
            <a:endParaRPr lang="en-US" dirty="0"/>
          </a:p>
          <a:p>
            <a:pPr>
              <a:buFont typeface="Arial" panose="020B0604020202020204" pitchFamily="34" charset="0"/>
              <a:buChar char="•"/>
            </a:pPr>
            <a:endParaRPr lang="en-US" sz="1800" b="1" dirty="0"/>
          </a:p>
          <a:p>
            <a:pPr>
              <a:buFont typeface="Arial" panose="020B0604020202020204" pitchFamily="34" charset="0"/>
              <a:buChar char="•"/>
            </a:pPr>
            <a:r>
              <a:rPr lang="en-US" sz="1800" b="1" dirty="0"/>
              <a:t>  Python</a:t>
            </a:r>
            <a:r>
              <a:rPr lang="en-US" sz="1800" dirty="0"/>
              <a:t> – The programming language used to connect your </a:t>
            </a:r>
            <a:r>
              <a:rPr lang="en-US" sz="1800" dirty="0" err="1"/>
              <a:t>Streamlit</a:t>
            </a:r>
            <a:r>
              <a:rPr lang="en-US" sz="1800" dirty="0"/>
              <a:t> app to the IBM watsonx.ai prediction endpoint via REST API.</a:t>
            </a:r>
            <a:endParaRPr lang="en-US" dirty="0"/>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a:t>IBM Watsonx.ai - </a:t>
            </a:r>
            <a:r>
              <a:rPr lang="en-US" sz="1800" dirty="0"/>
              <a:t>For model deployment, embeddings, and AI governance</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200876"/>
          </a:xfrm>
          <a:prstGeom prst="rect">
            <a:avLst/>
          </a:prstGeom>
          <a:noFill/>
        </p:spPr>
        <p:txBody>
          <a:bodyPr wrap="square" rtlCol="0">
            <a:spAutoFit/>
          </a:bodyPr>
          <a:lstStyle/>
          <a:p>
            <a:r>
              <a:rPr lang="en-US" sz="1800" b="1" dirty="0">
                <a:solidFill>
                  <a:schemeClr val="tx1"/>
                </a:solidFill>
                <a:latin typeface="Google Sans Flex"/>
              </a:rPr>
              <a:t>Hybrid Diagnostic Intelligence:</a:t>
            </a:r>
            <a:r>
              <a:rPr lang="en-US" sz="1800" dirty="0">
                <a:solidFill>
                  <a:schemeClr val="tx1"/>
                </a:solidFill>
                <a:latin typeface="Google Sans Flex"/>
              </a:rPr>
              <a:t> Merges ML probabilistic scoring with hard-coded rule-based overrides to ensure critical physical thresholds are never ignored.</a:t>
            </a:r>
          </a:p>
          <a:p>
            <a:pPr>
              <a:spcBef>
                <a:spcPts val="600"/>
              </a:spcBef>
              <a:spcAft>
                <a:spcPts val="600"/>
              </a:spcAft>
              <a:buFont typeface="Arial" panose="020B0604020202020204" pitchFamily="34" charset="0"/>
              <a:buChar char="•"/>
            </a:pPr>
            <a:r>
              <a:rPr lang="en-US" sz="1800" b="1" dirty="0">
                <a:solidFill>
                  <a:schemeClr val="tx1"/>
                </a:solidFill>
                <a:latin typeface="Google Sans Flex"/>
              </a:rPr>
              <a:t>Advanced Imbalance Handling:</a:t>
            </a:r>
            <a:r>
              <a:rPr lang="en-US" sz="1800" dirty="0">
                <a:solidFill>
                  <a:schemeClr val="tx1"/>
                </a:solidFill>
                <a:latin typeface="Google Sans Flex"/>
              </a:rPr>
              <a:t> Designed specifically to detect rare anomalies by optimizing for the F1 Macro metric, ensuring it doesn't just guess "Healthy".</a:t>
            </a:r>
          </a:p>
          <a:p>
            <a:pPr>
              <a:spcBef>
                <a:spcPts val="600"/>
              </a:spcBef>
              <a:spcAft>
                <a:spcPts val="600"/>
              </a:spcAft>
              <a:buFont typeface="Arial" panose="020B0604020202020204" pitchFamily="34" charset="0"/>
              <a:buChar char="•"/>
            </a:pPr>
            <a:r>
              <a:rPr lang="en-US" sz="1800" b="1" dirty="0">
                <a:solidFill>
                  <a:schemeClr val="tx1"/>
                </a:solidFill>
                <a:latin typeface="Google Sans Flex"/>
              </a:rPr>
              <a:t>Instant Mitigation Protocols:</a:t>
            </a:r>
            <a:r>
              <a:rPr lang="en-US" sz="1800" dirty="0">
                <a:solidFill>
                  <a:schemeClr val="tx1"/>
                </a:solidFill>
                <a:latin typeface="Google Sans Flex"/>
              </a:rPr>
              <a:t> Doesn't just flag an error; it provides actionable, step-by-step resolution paths for operators.</a:t>
            </a:r>
          </a:p>
          <a:p>
            <a:pPr>
              <a:spcBef>
                <a:spcPts val="600"/>
              </a:spcBef>
              <a:spcAft>
                <a:spcPts val="600"/>
              </a:spcAft>
              <a:buFont typeface="Arial" panose="020B0604020202020204" pitchFamily="34" charset="0"/>
              <a:buChar char="•"/>
            </a:pPr>
            <a:r>
              <a:rPr lang="en-US" sz="1800" b="1" dirty="0">
                <a:solidFill>
                  <a:schemeClr val="tx1"/>
                </a:solidFill>
                <a:latin typeface="Google Sans Flex"/>
              </a:rPr>
              <a:t>Secure Cloud Deployment:</a:t>
            </a:r>
            <a:r>
              <a:rPr lang="en-US" sz="1800" dirty="0">
                <a:solidFill>
                  <a:schemeClr val="tx1"/>
                </a:solidFill>
                <a:latin typeface="Google Sans Flex"/>
              </a:rPr>
              <a:t> Utilizes </a:t>
            </a:r>
            <a:r>
              <a:rPr lang="en-US" sz="1800" dirty="0" err="1">
                <a:solidFill>
                  <a:schemeClr val="tx1"/>
                </a:solidFill>
                <a:latin typeface="Google Sans Flex"/>
              </a:rPr>
              <a:t>Streamlit's</a:t>
            </a:r>
            <a:r>
              <a:rPr lang="en-US" sz="1800" dirty="0">
                <a:solidFill>
                  <a:schemeClr val="tx1"/>
                </a:solidFill>
                <a:latin typeface="Google Sans Flex"/>
              </a:rPr>
              <a:t> secrets management to securely connect a public-facing dashboard with a private IBM API.</a:t>
            </a:r>
          </a:p>
          <a:p>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1850" b="1">
                <a:solidFill>
                  <a:srgbClr val="2B3541"/>
                </a:solidFill>
                <a:latin typeface="Times New Roman"/>
                <a:ea typeface="Times New Roman"/>
                <a:cs typeface="Times New Roman"/>
              </a:rPr>
              <a:t>   Git Hub Link : </a:t>
            </a:r>
            <a:r>
              <a:rPr lang="en-US" sz="1850" b="1" dirty="0">
                <a:solidFill>
                  <a:srgbClr val="2B3541"/>
                </a:solidFill>
                <a:latin typeface="Times New Roman"/>
                <a:ea typeface="Times New Roman"/>
                <a:cs typeface="Times New Roman"/>
                <a:hlinkClick r:id="rId3"/>
              </a:rPr>
              <a:t>https://github.com/Basheer78654/streamlit-app.git</a:t>
            </a:r>
          </a:p>
          <a:p>
            <a:pPr>
              <a:lnSpc>
                <a:spcPct val="162162"/>
              </a:lnSpc>
              <a:buSzPts val="1850"/>
            </a:pPr>
            <a:r>
              <a:rPr lang="en-US" sz="1850" b="1" dirty="0">
                <a:solidFill>
                  <a:srgbClr val="2B3541"/>
                </a:solidFill>
                <a:latin typeface="Times New Roman"/>
                <a:ea typeface="Times New Roman"/>
                <a:cs typeface="Times New Roman"/>
              </a:rPr>
              <a:t>   </a:t>
            </a:r>
            <a:r>
              <a:rPr lang="en-US" sz="1850" b="1" dirty="0" err="1">
                <a:solidFill>
                  <a:srgbClr val="2B3541"/>
                </a:solidFill>
                <a:latin typeface="Times New Roman"/>
                <a:ea typeface="Times New Roman"/>
                <a:cs typeface="Times New Roman"/>
              </a:rPr>
              <a:t>Streamlit</a:t>
            </a:r>
            <a:r>
              <a:rPr lang="en-US" sz="1850" b="1" dirty="0">
                <a:solidFill>
                  <a:srgbClr val="2B3541"/>
                </a:solidFill>
                <a:latin typeface="Times New Roman"/>
                <a:ea typeface="Times New Roman"/>
                <a:cs typeface="Times New Roman"/>
              </a:rPr>
              <a:t> App link : </a:t>
            </a:r>
            <a:r>
              <a:rPr lang="en-US" sz="1850" dirty="0">
                <a:solidFill>
                  <a:srgbClr val="2B3541"/>
                </a:solidFill>
                <a:ea typeface="Times New Roman"/>
                <a:hlinkClick r:id="rId4"/>
              </a:rPr>
              <a:t>https://app-app-86cuhmm55zzarihythmpxo.streamlit.app/</a:t>
            </a:r>
            <a:endParaRPr lang="en-US" sz="1850">
              <a:solidFill>
                <a:srgbClr val="2B3541"/>
              </a:solidFill>
              <a:ea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US" sz="2000" b="1" dirty="0">
                <a:solidFill>
                  <a:schemeClr val="tx1"/>
                </a:solidFill>
                <a:latin typeface="+mn-lt"/>
              </a:rPr>
              <a:t>Direct IoT Sensor Integration:</a:t>
            </a:r>
            <a:r>
              <a:rPr lang="en-US" sz="2000" dirty="0">
                <a:solidFill>
                  <a:schemeClr val="tx1"/>
                </a:solidFill>
                <a:latin typeface="+mn-lt"/>
              </a:rPr>
              <a:t> Future versions can replace manual input by hooking directly into PLC (Programmable Logic Controller) streams via protocols like MQTT, allowing for 100% automated real-time telemetry ingestion. </a:t>
            </a:r>
          </a:p>
          <a:p>
            <a:pPr marL="457200" indent="-457200">
              <a:buAutoNum type="arabicPeriod"/>
            </a:pPr>
            <a:endParaRPr lang="en-US" sz="2000" b="1" dirty="0">
              <a:solidFill>
                <a:schemeClr val="tx1"/>
              </a:solidFill>
              <a:latin typeface="+mn-lt"/>
            </a:endParaRPr>
          </a:p>
          <a:p>
            <a:pPr marL="457200" indent="-457200">
              <a:buAutoNum type="arabicPeriod"/>
            </a:pPr>
            <a:r>
              <a:rPr lang="en-US" sz="2000" b="1" dirty="0">
                <a:solidFill>
                  <a:schemeClr val="tx1"/>
                </a:solidFill>
                <a:latin typeface="+mn-lt"/>
              </a:rPr>
              <a:t> Automated Maintenance Ticketing:</a:t>
            </a:r>
            <a:r>
              <a:rPr lang="en-US" sz="2000" dirty="0">
                <a:solidFill>
                  <a:schemeClr val="tx1"/>
                </a:solidFill>
                <a:latin typeface="+mn-lt"/>
              </a:rPr>
              <a:t> Integration with factory ERP systems (like SAP or Maximo) to automatically generate and assign maintenance work orders when an anomaly reaches a high confidence threshold. </a:t>
            </a:r>
          </a:p>
          <a:p>
            <a:pPr marL="457200" indent="-457200">
              <a:buAutoNum type="arabicPeriod"/>
            </a:pPr>
            <a:endParaRPr lang="en-US" sz="2000" b="1" dirty="0">
              <a:solidFill>
                <a:schemeClr val="tx1"/>
              </a:solidFill>
              <a:latin typeface="+mn-lt"/>
            </a:endParaRPr>
          </a:p>
          <a:p>
            <a:pPr marL="457200" indent="-457200">
              <a:buAutoNum type="arabicPeriod"/>
            </a:pPr>
            <a:r>
              <a:rPr lang="en-US" sz="2000" b="1" dirty="0">
                <a:solidFill>
                  <a:schemeClr val="tx1"/>
                </a:solidFill>
                <a:latin typeface="+mn-lt"/>
              </a:rPr>
              <a:t>Expanded Machine Topologies:</a:t>
            </a:r>
            <a:r>
              <a:rPr lang="en-US" sz="2000" dirty="0">
                <a:solidFill>
                  <a:schemeClr val="tx1"/>
                </a:solidFill>
                <a:latin typeface="+mn-lt"/>
              </a:rPr>
              <a:t> The model can be retrained with broader datasets to encompass different types of industrial machinery (e.g., CNC milling machines, hydraulic presses) beyond the current profiles.</a:t>
            </a:r>
            <a:endParaRPr lang="en-US" sz="1800" dirty="0">
              <a:solidFill>
                <a:schemeClr val="tx1"/>
              </a:solidFill>
              <a:latin typeface="+mn-lt"/>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1172</TotalTime>
  <Words>1343</Words>
  <Application>Microsoft Office PowerPoint</Application>
  <PresentationFormat>Widescreen</PresentationFormat>
  <Paragraphs>99</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Consolas</vt:lpstr>
      <vt:lpstr>Google Sans Flex</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Basheer Shareef</cp:lastModifiedBy>
  <cp:revision>149</cp:revision>
  <dcterms:created xsi:type="dcterms:W3CDTF">2025-07-08T05:06:56Z</dcterms:created>
  <dcterms:modified xsi:type="dcterms:W3CDTF">2026-06-08T11:14:13Z</dcterms:modified>
</cp:coreProperties>
</file>